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1"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903"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006DF-041F-7907-A9EA-2CE3BF134D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CA34FA0-788F-A419-C938-1947073891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A12E5B1-20E8-259F-E684-2DEC7C018EEF}"/>
              </a:ext>
            </a:extLst>
          </p:cNvPr>
          <p:cNvSpPr>
            <a:spLocks noGrp="1"/>
          </p:cNvSpPr>
          <p:nvPr>
            <p:ph type="dt" sz="half" idx="10"/>
          </p:nvPr>
        </p:nvSpPr>
        <p:spPr/>
        <p:txBody>
          <a:bodyPr/>
          <a:lstStyle/>
          <a:p>
            <a:fld id="{F2D6A496-9794-433E-9ADA-1A9081BA6091}" type="datetimeFigureOut">
              <a:rPr lang="en-IN" smtClean="0"/>
              <a:t>04-09-26</a:t>
            </a:fld>
            <a:endParaRPr lang="en-IN"/>
          </a:p>
        </p:txBody>
      </p:sp>
      <p:sp>
        <p:nvSpPr>
          <p:cNvPr id="5" name="Footer Placeholder 4">
            <a:extLst>
              <a:ext uri="{FF2B5EF4-FFF2-40B4-BE49-F238E27FC236}">
                <a16:creationId xmlns:a16="http://schemas.microsoft.com/office/drawing/2014/main" id="{F0B095FE-338F-E21E-4177-1BBD7F094F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4CD6A0-9A9F-CCB3-E690-38D6446008CB}"/>
              </a:ext>
            </a:extLst>
          </p:cNvPr>
          <p:cNvSpPr>
            <a:spLocks noGrp="1"/>
          </p:cNvSpPr>
          <p:nvPr>
            <p:ph type="sldNum" sz="quarter" idx="12"/>
          </p:nvPr>
        </p:nvSpPr>
        <p:spPr/>
        <p:txBody>
          <a:bodyPr/>
          <a:lstStyle/>
          <a:p>
            <a:fld id="{1A5EC973-372E-4D89-BB0F-F3042F6F3202}" type="slidenum">
              <a:rPr lang="en-IN" smtClean="0"/>
              <a:t>‹#›</a:t>
            </a:fld>
            <a:endParaRPr lang="en-IN"/>
          </a:p>
        </p:txBody>
      </p:sp>
    </p:spTree>
    <p:extLst>
      <p:ext uri="{BB962C8B-B14F-4D97-AF65-F5344CB8AC3E}">
        <p14:creationId xmlns:p14="http://schemas.microsoft.com/office/powerpoint/2010/main" val="1922881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4D5C4-99C9-200C-FE7A-CED2B6360CB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D73B93-104B-EEB5-5C9A-C4B3546C67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29B8EC-5A05-6993-BDAD-AEF03C85717D}"/>
              </a:ext>
            </a:extLst>
          </p:cNvPr>
          <p:cNvSpPr>
            <a:spLocks noGrp="1"/>
          </p:cNvSpPr>
          <p:nvPr>
            <p:ph type="dt" sz="half" idx="10"/>
          </p:nvPr>
        </p:nvSpPr>
        <p:spPr/>
        <p:txBody>
          <a:bodyPr/>
          <a:lstStyle/>
          <a:p>
            <a:fld id="{F2D6A496-9794-433E-9ADA-1A9081BA6091}" type="datetimeFigureOut">
              <a:rPr lang="en-IN" smtClean="0"/>
              <a:t>04-09-26</a:t>
            </a:fld>
            <a:endParaRPr lang="en-IN"/>
          </a:p>
        </p:txBody>
      </p:sp>
      <p:sp>
        <p:nvSpPr>
          <p:cNvPr id="5" name="Footer Placeholder 4">
            <a:extLst>
              <a:ext uri="{FF2B5EF4-FFF2-40B4-BE49-F238E27FC236}">
                <a16:creationId xmlns:a16="http://schemas.microsoft.com/office/drawing/2014/main" id="{7ECA6EAC-F7D4-30BD-5CA5-35F1FEF274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CA42EB-BE54-ABCB-76BC-6D7F71D37D7F}"/>
              </a:ext>
            </a:extLst>
          </p:cNvPr>
          <p:cNvSpPr>
            <a:spLocks noGrp="1"/>
          </p:cNvSpPr>
          <p:nvPr>
            <p:ph type="sldNum" sz="quarter" idx="12"/>
          </p:nvPr>
        </p:nvSpPr>
        <p:spPr/>
        <p:txBody>
          <a:bodyPr/>
          <a:lstStyle/>
          <a:p>
            <a:fld id="{1A5EC973-372E-4D89-BB0F-F3042F6F3202}" type="slidenum">
              <a:rPr lang="en-IN" smtClean="0"/>
              <a:t>‹#›</a:t>
            </a:fld>
            <a:endParaRPr lang="en-IN"/>
          </a:p>
        </p:txBody>
      </p:sp>
    </p:spTree>
    <p:extLst>
      <p:ext uri="{BB962C8B-B14F-4D97-AF65-F5344CB8AC3E}">
        <p14:creationId xmlns:p14="http://schemas.microsoft.com/office/powerpoint/2010/main" val="1356454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941AF-4C6F-C699-4905-3ED4523314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E677F2E-3038-87E7-1B83-4C186BF5FB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3D0107-41EB-AFE0-8BC4-DC0D0C2413E8}"/>
              </a:ext>
            </a:extLst>
          </p:cNvPr>
          <p:cNvSpPr>
            <a:spLocks noGrp="1"/>
          </p:cNvSpPr>
          <p:nvPr>
            <p:ph type="dt" sz="half" idx="10"/>
          </p:nvPr>
        </p:nvSpPr>
        <p:spPr/>
        <p:txBody>
          <a:bodyPr/>
          <a:lstStyle/>
          <a:p>
            <a:fld id="{F2D6A496-9794-433E-9ADA-1A9081BA6091}" type="datetimeFigureOut">
              <a:rPr lang="en-IN" smtClean="0"/>
              <a:t>04-09-26</a:t>
            </a:fld>
            <a:endParaRPr lang="en-IN"/>
          </a:p>
        </p:txBody>
      </p:sp>
      <p:sp>
        <p:nvSpPr>
          <p:cNvPr id="5" name="Footer Placeholder 4">
            <a:extLst>
              <a:ext uri="{FF2B5EF4-FFF2-40B4-BE49-F238E27FC236}">
                <a16:creationId xmlns:a16="http://schemas.microsoft.com/office/drawing/2014/main" id="{FFC72464-CE73-EDBA-7923-02BD8B8088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8F0B72-5201-6F83-6DB1-7BCCF2BA5903}"/>
              </a:ext>
            </a:extLst>
          </p:cNvPr>
          <p:cNvSpPr>
            <a:spLocks noGrp="1"/>
          </p:cNvSpPr>
          <p:nvPr>
            <p:ph type="sldNum" sz="quarter" idx="12"/>
          </p:nvPr>
        </p:nvSpPr>
        <p:spPr/>
        <p:txBody>
          <a:bodyPr/>
          <a:lstStyle/>
          <a:p>
            <a:fld id="{1A5EC973-372E-4D89-BB0F-F3042F6F3202}" type="slidenum">
              <a:rPr lang="en-IN" smtClean="0"/>
              <a:t>‹#›</a:t>
            </a:fld>
            <a:endParaRPr lang="en-IN"/>
          </a:p>
        </p:txBody>
      </p:sp>
    </p:spTree>
    <p:extLst>
      <p:ext uri="{BB962C8B-B14F-4D97-AF65-F5344CB8AC3E}">
        <p14:creationId xmlns:p14="http://schemas.microsoft.com/office/powerpoint/2010/main" val="821428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0B4FB-5E31-080C-BD1F-6EC394257B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139DFC-5777-C5D0-D8B4-6845F0C017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8619DE3-52E4-E8F4-F235-77C214A952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68E1BE7-B119-0CCD-716B-6BC4623F7D95}"/>
              </a:ext>
            </a:extLst>
          </p:cNvPr>
          <p:cNvSpPr>
            <a:spLocks noGrp="1"/>
          </p:cNvSpPr>
          <p:nvPr>
            <p:ph type="dt" sz="half" idx="10"/>
          </p:nvPr>
        </p:nvSpPr>
        <p:spPr/>
        <p:txBody>
          <a:bodyPr/>
          <a:lstStyle/>
          <a:p>
            <a:fld id="{F2D6A496-9794-433E-9ADA-1A9081BA6091}" type="datetimeFigureOut">
              <a:rPr lang="en-IN" smtClean="0"/>
              <a:t>04-09-26</a:t>
            </a:fld>
            <a:endParaRPr lang="en-IN"/>
          </a:p>
        </p:txBody>
      </p:sp>
      <p:sp>
        <p:nvSpPr>
          <p:cNvPr id="6" name="Footer Placeholder 5">
            <a:extLst>
              <a:ext uri="{FF2B5EF4-FFF2-40B4-BE49-F238E27FC236}">
                <a16:creationId xmlns:a16="http://schemas.microsoft.com/office/drawing/2014/main" id="{786D2C51-216D-F97F-9E63-5887E7CBCB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3D64D7-2304-83FB-B4C0-1BD779048D79}"/>
              </a:ext>
            </a:extLst>
          </p:cNvPr>
          <p:cNvSpPr>
            <a:spLocks noGrp="1"/>
          </p:cNvSpPr>
          <p:nvPr>
            <p:ph type="sldNum" sz="quarter" idx="12"/>
          </p:nvPr>
        </p:nvSpPr>
        <p:spPr/>
        <p:txBody>
          <a:bodyPr/>
          <a:lstStyle/>
          <a:p>
            <a:fld id="{1A5EC973-372E-4D89-BB0F-F3042F6F3202}" type="slidenum">
              <a:rPr lang="en-IN" smtClean="0"/>
              <a:t>‹#›</a:t>
            </a:fld>
            <a:endParaRPr lang="en-IN"/>
          </a:p>
        </p:txBody>
      </p:sp>
    </p:spTree>
    <p:extLst>
      <p:ext uri="{BB962C8B-B14F-4D97-AF65-F5344CB8AC3E}">
        <p14:creationId xmlns:p14="http://schemas.microsoft.com/office/powerpoint/2010/main" val="1943858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625BE-0201-4170-6110-376B2ABA1F6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63122C-D9CE-9D4D-6571-914F5A8A7B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1521D2-CECC-D2FC-FA58-30E659216E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917D70-6B88-4647-2BB1-9D2697D892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CD6DF3-FE75-22DD-479E-EAE1B13324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0A16A10-B1C0-CB63-3FEA-0E0FEC03480B}"/>
              </a:ext>
            </a:extLst>
          </p:cNvPr>
          <p:cNvSpPr>
            <a:spLocks noGrp="1"/>
          </p:cNvSpPr>
          <p:nvPr>
            <p:ph type="dt" sz="half" idx="10"/>
          </p:nvPr>
        </p:nvSpPr>
        <p:spPr/>
        <p:txBody>
          <a:bodyPr/>
          <a:lstStyle/>
          <a:p>
            <a:fld id="{F2D6A496-9794-433E-9ADA-1A9081BA6091}" type="datetimeFigureOut">
              <a:rPr lang="en-IN" smtClean="0"/>
              <a:t>04-09-26</a:t>
            </a:fld>
            <a:endParaRPr lang="en-IN"/>
          </a:p>
        </p:txBody>
      </p:sp>
      <p:sp>
        <p:nvSpPr>
          <p:cNvPr id="8" name="Footer Placeholder 7">
            <a:extLst>
              <a:ext uri="{FF2B5EF4-FFF2-40B4-BE49-F238E27FC236}">
                <a16:creationId xmlns:a16="http://schemas.microsoft.com/office/drawing/2014/main" id="{47A83FAB-BD92-E772-EC9B-86BCDF1CF7C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4F883A1-D6B1-0CE9-A48D-203A23379B2A}"/>
              </a:ext>
            </a:extLst>
          </p:cNvPr>
          <p:cNvSpPr>
            <a:spLocks noGrp="1"/>
          </p:cNvSpPr>
          <p:nvPr>
            <p:ph type="sldNum" sz="quarter" idx="12"/>
          </p:nvPr>
        </p:nvSpPr>
        <p:spPr/>
        <p:txBody>
          <a:bodyPr/>
          <a:lstStyle/>
          <a:p>
            <a:fld id="{1A5EC973-372E-4D89-BB0F-F3042F6F3202}" type="slidenum">
              <a:rPr lang="en-IN" smtClean="0"/>
              <a:t>‹#›</a:t>
            </a:fld>
            <a:endParaRPr lang="en-IN"/>
          </a:p>
        </p:txBody>
      </p:sp>
    </p:spTree>
    <p:extLst>
      <p:ext uri="{BB962C8B-B14F-4D97-AF65-F5344CB8AC3E}">
        <p14:creationId xmlns:p14="http://schemas.microsoft.com/office/powerpoint/2010/main" val="2089921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0A35-FE1C-E5FA-CE07-663C888F542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C0406D3-164B-F010-05B0-1685550F63E0}"/>
              </a:ext>
            </a:extLst>
          </p:cNvPr>
          <p:cNvSpPr>
            <a:spLocks noGrp="1"/>
          </p:cNvSpPr>
          <p:nvPr>
            <p:ph type="dt" sz="half" idx="10"/>
          </p:nvPr>
        </p:nvSpPr>
        <p:spPr/>
        <p:txBody>
          <a:bodyPr/>
          <a:lstStyle/>
          <a:p>
            <a:fld id="{F2D6A496-9794-433E-9ADA-1A9081BA6091}" type="datetimeFigureOut">
              <a:rPr lang="en-IN" smtClean="0"/>
              <a:t>04-09-26</a:t>
            </a:fld>
            <a:endParaRPr lang="en-IN"/>
          </a:p>
        </p:txBody>
      </p:sp>
      <p:sp>
        <p:nvSpPr>
          <p:cNvPr id="4" name="Footer Placeholder 3">
            <a:extLst>
              <a:ext uri="{FF2B5EF4-FFF2-40B4-BE49-F238E27FC236}">
                <a16:creationId xmlns:a16="http://schemas.microsoft.com/office/drawing/2014/main" id="{397AECBC-320F-70E4-F026-332E4B6D65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60EF0D0-F2C0-30C0-7E8B-A416AAF5B7FB}"/>
              </a:ext>
            </a:extLst>
          </p:cNvPr>
          <p:cNvSpPr>
            <a:spLocks noGrp="1"/>
          </p:cNvSpPr>
          <p:nvPr>
            <p:ph type="sldNum" sz="quarter" idx="12"/>
          </p:nvPr>
        </p:nvSpPr>
        <p:spPr/>
        <p:txBody>
          <a:bodyPr/>
          <a:lstStyle/>
          <a:p>
            <a:fld id="{1A5EC973-372E-4D89-BB0F-F3042F6F3202}" type="slidenum">
              <a:rPr lang="en-IN" smtClean="0"/>
              <a:t>‹#›</a:t>
            </a:fld>
            <a:endParaRPr lang="en-IN"/>
          </a:p>
        </p:txBody>
      </p:sp>
    </p:spTree>
    <p:extLst>
      <p:ext uri="{BB962C8B-B14F-4D97-AF65-F5344CB8AC3E}">
        <p14:creationId xmlns:p14="http://schemas.microsoft.com/office/powerpoint/2010/main" val="3177996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041AD4-03F3-552E-2DBD-7A4BAE3925C2}"/>
              </a:ext>
            </a:extLst>
          </p:cNvPr>
          <p:cNvSpPr>
            <a:spLocks noGrp="1"/>
          </p:cNvSpPr>
          <p:nvPr>
            <p:ph type="dt" sz="half" idx="10"/>
          </p:nvPr>
        </p:nvSpPr>
        <p:spPr/>
        <p:txBody>
          <a:bodyPr/>
          <a:lstStyle/>
          <a:p>
            <a:fld id="{F2D6A496-9794-433E-9ADA-1A9081BA6091}" type="datetimeFigureOut">
              <a:rPr lang="en-IN" smtClean="0"/>
              <a:t>04-09-26</a:t>
            </a:fld>
            <a:endParaRPr lang="en-IN"/>
          </a:p>
        </p:txBody>
      </p:sp>
      <p:sp>
        <p:nvSpPr>
          <p:cNvPr id="3" name="Footer Placeholder 2">
            <a:extLst>
              <a:ext uri="{FF2B5EF4-FFF2-40B4-BE49-F238E27FC236}">
                <a16:creationId xmlns:a16="http://schemas.microsoft.com/office/drawing/2014/main" id="{918EE938-C131-AEDB-FBEE-827C2B6720D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77F8CED-8908-5B5D-A7D0-5B85C7C46222}"/>
              </a:ext>
            </a:extLst>
          </p:cNvPr>
          <p:cNvSpPr>
            <a:spLocks noGrp="1"/>
          </p:cNvSpPr>
          <p:nvPr>
            <p:ph type="sldNum" sz="quarter" idx="12"/>
          </p:nvPr>
        </p:nvSpPr>
        <p:spPr/>
        <p:txBody>
          <a:bodyPr/>
          <a:lstStyle/>
          <a:p>
            <a:fld id="{1A5EC973-372E-4D89-BB0F-F3042F6F3202}" type="slidenum">
              <a:rPr lang="en-IN" smtClean="0"/>
              <a:t>‹#›</a:t>
            </a:fld>
            <a:endParaRPr lang="en-IN"/>
          </a:p>
        </p:txBody>
      </p:sp>
    </p:spTree>
    <p:extLst>
      <p:ext uri="{BB962C8B-B14F-4D97-AF65-F5344CB8AC3E}">
        <p14:creationId xmlns:p14="http://schemas.microsoft.com/office/powerpoint/2010/main" val="1572488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00EF3-03C5-DB25-0753-2D8D908E7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24D8BA-2709-E7CB-5FBF-89A6B14AEE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F4C5A9-9FE3-5305-BB9C-538936ADE9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E81906-E6A2-C822-F1C8-A7D463E7C657}"/>
              </a:ext>
            </a:extLst>
          </p:cNvPr>
          <p:cNvSpPr>
            <a:spLocks noGrp="1"/>
          </p:cNvSpPr>
          <p:nvPr>
            <p:ph type="dt" sz="half" idx="10"/>
          </p:nvPr>
        </p:nvSpPr>
        <p:spPr/>
        <p:txBody>
          <a:bodyPr/>
          <a:lstStyle/>
          <a:p>
            <a:fld id="{F2D6A496-9794-433E-9ADA-1A9081BA6091}" type="datetimeFigureOut">
              <a:rPr lang="en-IN" smtClean="0"/>
              <a:t>04-09-26</a:t>
            </a:fld>
            <a:endParaRPr lang="en-IN"/>
          </a:p>
        </p:txBody>
      </p:sp>
      <p:sp>
        <p:nvSpPr>
          <p:cNvPr id="6" name="Footer Placeholder 5">
            <a:extLst>
              <a:ext uri="{FF2B5EF4-FFF2-40B4-BE49-F238E27FC236}">
                <a16:creationId xmlns:a16="http://schemas.microsoft.com/office/drawing/2014/main" id="{264027ED-2FFE-D354-F130-E200AF993B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F8A7F7-E344-63F6-C2C3-8E9C80D45556}"/>
              </a:ext>
            </a:extLst>
          </p:cNvPr>
          <p:cNvSpPr>
            <a:spLocks noGrp="1"/>
          </p:cNvSpPr>
          <p:nvPr>
            <p:ph type="sldNum" sz="quarter" idx="12"/>
          </p:nvPr>
        </p:nvSpPr>
        <p:spPr/>
        <p:txBody>
          <a:bodyPr/>
          <a:lstStyle/>
          <a:p>
            <a:fld id="{1A5EC973-372E-4D89-BB0F-F3042F6F3202}" type="slidenum">
              <a:rPr lang="en-IN" smtClean="0"/>
              <a:t>‹#›</a:t>
            </a:fld>
            <a:endParaRPr lang="en-IN"/>
          </a:p>
        </p:txBody>
      </p:sp>
    </p:spTree>
    <p:extLst>
      <p:ext uri="{BB962C8B-B14F-4D97-AF65-F5344CB8AC3E}">
        <p14:creationId xmlns:p14="http://schemas.microsoft.com/office/powerpoint/2010/main" val="3135054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E5B2E-D23A-AC11-7DAD-D31F8B0F60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A2663F4-D36C-6CFD-C1F5-0A265B3540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828D4C8-0BE7-8E67-1063-B42B742CCA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DFC614-55FD-D2FC-0DDB-5001AB01FBB2}"/>
              </a:ext>
            </a:extLst>
          </p:cNvPr>
          <p:cNvSpPr>
            <a:spLocks noGrp="1"/>
          </p:cNvSpPr>
          <p:nvPr>
            <p:ph type="dt" sz="half" idx="10"/>
          </p:nvPr>
        </p:nvSpPr>
        <p:spPr/>
        <p:txBody>
          <a:bodyPr/>
          <a:lstStyle/>
          <a:p>
            <a:fld id="{F2D6A496-9794-433E-9ADA-1A9081BA6091}" type="datetimeFigureOut">
              <a:rPr lang="en-IN" smtClean="0"/>
              <a:t>04-09-26</a:t>
            </a:fld>
            <a:endParaRPr lang="en-IN"/>
          </a:p>
        </p:txBody>
      </p:sp>
      <p:sp>
        <p:nvSpPr>
          <p:cNvPr id="6" name="Footer Placeholder 5">
            <a:extLst>
              <a:ext uri="{FF2B5EF4-FFF2-40B4-BE49-F238E27FC236}">
                <a16:creationId xmlns:a16="http://schemas.microsoft.com/office/drawing/2014/main" id="{1610A260-2049-F794-4AEB-4B58BA02E6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2551A3-1D0F-F88C-56D0-EA6E70F0AFA1}"/>
              </a:ext>
            </a:extLst>
          </p:cNvPr>
          <p:cNvSpPr>
            <a:spLocks noGrp="1"/>
          </p:cNvSpPr>
          <p:nvPr>
            <p:ph type="sldNum" sz="quarter" idx="12"/>
          </p:nvPr>
        </p:nvSpPr>
        <p:spPr/>
        <p:txBody>
          <a:bodyPr/>
          <a:lstStyle/>
          <a:p>
            <a:fld id="{1A5EC973-372E-4D89-BB0F-F3042F6F3202}" type="slidenum">
              <a:rPr lang="en-IN" smtClean="0"/>
              <a:t>‹#›</a:t>
            </a:fld>
            <a:endParaRPr lang="en-IN"/>
          </a:p>
        </p:txBody>
      </p:sp>
    </p:spTree>
    <p:extLst>
      <p:ext uri="{BB962C8B-B14F-4D97-AF65-F5344CB8AC3E}">
        <p14:creationId xmlns:p14="http://schemas.microsoft.com/office/powerpoint/2010/main" val="1293070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21262-D54E-A027-60EC-0F7BAB1CD2D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641A21-CDD3-B5F0-9A14-3E2AF53D57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C41D67-2C67-B970-08B3-E2E52A3DB601}"/>
              </a:ext>
            </a:extLst>
          </p:cNvPr>
          <p:cNvSpPr>
            <a:spLocks noGrp="1"/>
          </p:cNvSpPr>
          <p:nvPr>
            <p:ph type="dt" sz="half" idx="10"/>
          </p:nvPr>
        </p:nvSpPr>
        <p:spPr/>
        <p:txBody>
          <a:bodyPr/>
          <a:lstStyle/>
          <a:p>
            <a:fld id="{F2D6A496-9794-433E-9ADA-1A9081BA6091}" type="datetimeFigureOut">
              <a:rPr lang="en-IN" smtClean="0"/>
              <a:t>04-09-26</a:t>
            </a:fld>
            <a:endParaRPr lang="en-IN"/>
          </a:p>
        </p:txBody>
      </p:sp>
      <p:sp>
        <p:nvSpPr>
          <p:cNvPr id="5" name="Footer Placeholder 4">
            <a:extLst>
              <a:ext uri="{FF2B5EF4-FFF2-40B4-BE49-F238E27FC236}">
                <a16:creationId xmlns:a16="http://schemas.microsoft.com/office/drawing/2014/main" id="{5CF89863-EB96-F5F0-447F-4354D6D13C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B05F1C-36E2-F7AF-84A4-6384FB2B855A}"/>
              </a:ext>
            </a:extLst>
          </p:cNvPr>
          <p:cNvSpPr>
            <a:spLocks noGrp="1"/>
          </p:cNvSpPr>
          <p:nvPr>
            <p:ph type="sldNum" sz="quarter" idx="12"/>
          </p:nvPr>
        </p:nvSpPr>
        <p:spPr/>
        <p:txBody>
          <a:bodyPr/>
          <a:lstStyle/>
          <a:p>
            <a:fld id="{1A5EC973-372E-4D89-BB0F-F3042F6F3202}" type="slidenum">
              <a:rPr lang="en-IN" smtClean="0"/>
              <a:t>‹#›</a:t>
            </a:fld>
            <a:endParaRPr lang="en-IN"/>
          </a:p>
        </p:txBody>
      </p:sp>
    </p:spTree>
    <p:extLst>
      <p:ext uri="{BB962C8B-B14F-4D97-AF65-F5344CB8AC3E}">
        <p14:creationId xmlns:p14="http://schemas.microsoft.com/office/powerpoint/2010/main" val="2897521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F95206-4828-318E-C1CB-6BCAA6FA95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1331D3-7209-5B69-6D15-C433AA156D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66E080-2DB9-F686-7F46-28A4E772EC7C}"/>
              </a:ext>
            </a:extLst>
          </p:cNvPr>
          <p:cNvSpPr>
            <a:spLocks noGrp="1"/>
          </p:cNvSpPr>
          <p:nvPr>
            <p:ph type="dt" sz="half" idx="10"/>
          </p:nvPr>
        </p:nvSpPr>
        <p:spPr/>
        <p:txBody>
          <a:bodyPr/>
          <a:lstStyle/>
          <a:p>
            <a:fld id="{F2D6A496-9794-433E-9ADA-1A9081BA6091}" type="datetimeFigureOut">
              <a:rPr lang="en-IN" smtClean="0"/>
              <a:t>04-09-26</a:t>
            </a:fld>
            <a:endParaRPr lang="en-IN"/>
          </a:p>
        </p:txBody>
      </p:sp>
      <p:sp>
        <p:nvSpPr>
          <p:cNvPr id="5" name="Footer Placeholder 4">
            <a:extLst>
              <a:ext uri="{FF2B5EF4-FFF2-40B4-BE49-F238E27FC236}">
                <a16:creationId xmlns:a16="http://schemas.microsoft.com/office/drawing/2014/main" id="{21B93A81-D0AD-A97E-A90D-1283D07F8D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4EC7CE-9321-9AAF-FD3E-825C67765362}"/>
              </a:ext>
            </a:extLst>
          </p:cNvPr>
          <p:cNvSpPr>
            <a:spLocks noGrp="1"/>
          </p:cNvSpPr>
          <p:nvPr>
            <p:ph type="sldNum" sz="quarter" idx="12"/>
          </p:nvPr>
        </p:nvSpPr>
        <p:spPr/>
        <p:txBody>
          <a:bodyPr/>
          <a:lstStyle/>
          <a:p>
            <a:fld id="{1A5EC973-372E-4D89-BB0F-F3042F6F3202}" type="slidenum">
              <a:rPr lang="en-IN" smtClean="0"/>
              <a:t>‹#›</a:t>
            </a:fld>
            <a:endParaRPr lang="en-IN"/>
          </a:p>
        </p:txBody>
      </p:sp>
    </p:spTree>
    <p:extLst>
      <p:ext uri="{BB962C8B-B14F-4D97-AF65-F5344CB8AC3E}">
        <p14:creationId xmlns:p14="http://schemas.microsoft.com/office/powerpoint/2010/main" val="637982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51D6BA-BFD0-020E-C4CD-BF4DF7FE32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FCEDEE-5DDC-6ED7-9A69-E2AA728D75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AE3B33-60E1-CA22-A6CF-78B473E452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D6A496-9794-433E-9ADA-1A9081BA6091}" type="datetimeFigureOut">
              <a:rPr lang="en-IN" smtClean="0"/>
              <a:t>04-09-26</a:t>
            </a:fld>
            <a:endParaRPr lang="en-IN"/>
          </a:p>
        </p:txBody>
      </p:sp>
      <p:sp>
        <p:nvSpPr>
          <p:cNvPr id="5" name="Footer Placeholder 4">
            <a:extLst>
              <a:ext uri="{FF2B5EF4-FFF2-40B4-BE49-F238E27FC236}">
                <a16:creationId xmlns:a16="http://schemas.microsoft.com/office/drawing/2014/main" id="{087FBAF6-4FA8-863E-5D03-9B1B4126D6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29C92CD-1524-5C4F-AC4A-BDE2B5A14E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5EC973-372E-4D89-BB0F-F3042F6F3202}" type="slidenum">
              <a:rPr lang="en-IN" smtClean="0"/>
              <a:t>‹#›</a:t>
            </a:fld>
            <a:endParaRPr lang="en-IN"/>
          </a:p>
        </p:txBody>
      </p:sp>
    </p:spTree>
    <p:extLst>
      <p:ext uri="{BB962C8B-B14F-4D97-AF65-F5344CB8AC3E}">
        <p14:creationId xmlns:p14="http://schemas.microsoft.com/office/powerpoint/2010/main" val="197867442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FB93A-E12B-48A4-328F-9A1B8E9A1BAA}"/>
              </a:ext>
            </a:extLst>
          </p:cNvPr>
          <p:cNvSpPr>
            <a:spLocks noGrp="1"/>
          </p:cNvSpPr>
          <p:nvPr>
            <p:ph type="ctrTitle"/>
          </p:nvPr>
        </p:nvSpPr>
        <p:spPr>
          <a:xfrm>
            <a:off x="582803" y="753626"/>
            <a:ext cx="11002945" cy="3537019"/>
          </a:xfrm>
        </p:spPr>
        <p:txBody>
          <a:bodyPr/>
          <a:lstStyle/>
          <a:p>
            <a:r>
              <a:rPr lang="en-IN" i="1" dirty="0"/>
              <a:t>Retail Business Performance &amp; Profitability Analysis</a:t>
            </a:r>
            <a:endParaRPr lang="en-IN" dirty="0"/>
          </a:p>
        </p:txBody>
      </p:sp>
      <p:sp>
        <p:nvSpPr>
          <p:cNvPr id="3" name="Subtitle 2">
            <a:extLst>
              <a:ext uri="{FF2B5EF4-FFF2-40B4-BE49-F238E27FC236}">
                <a16:creationId xmlns:a16="http://schemas.microsoft.com/office/drawing/2014/main" id="{62093181-A939-3CB5-4858-1DE8209395ED}"/>
              </a:ext>
            </a:extLst>
          </p:cNvPr>
          <p:cNvSpPr>
            <a:spLocks noGrp="1"/>
          </p:cNvSpPr>
          <p:nvPr>
            <p:ph type="subTitle" idx="1"/>
          </p:nvPr>
        </p:nvSpPr>
        <p:spPr>
          <a:xfrm>
            <a:off x="271305" y="5606982"/>
            <a:ext cx="5285434" cy="1055076"/>
          </a:xfrm>
        </p:spPr>
        <p:txBody>
          <a:bodyPr>
            <a:normAutofit/>
          </a:bodyPr>
          <a:lstStyle/>
          <a:p>
            <a:pPr algn="l"/>
            <a:r>
              <a:rPr lang="en-IN" sz="1600" dirty="0"/>
              <a:t>Author – Aman Dikshit</a:t>
            </a:r>
          </a:p>
          <a:p>
            <a:pPr algn="l"/>
            <a:r>
              <a:rPr lang="en-IN" sz="1600" dirty="0"/>
              <a:t>Date – August 2026</a:t>
            </a:r>
          </a:p>
          <a:p>
            <a:pPr algn="l"/>
            <a:r>
              <a:rPr lang="en-IN" sz="1600" dirty="0"/>
              <a:t>Tools used – SQL, Python (Pandas, Seaborn), Tableau</a:t>
            </a:r>
          </a:p>
        </p:txBody>
      </p:sp>
    </p:spTree>
    <p:extLst>
      <p:ext uri="{BB962C8B-B14F-4D97-AF65-F5344CB8AC3E}">
        <p14:creationId xmlns:p14="http://schemas.microsoft.com/office/powerpoint/2010/main" val="2810184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FC7FF-1CC0-FE2E-314C-3ACA88A9B9C8}"/>
              </a:ext>
            </a:extLst>
          </p:cNvPr>
          <p:cNvSpPr>
            <a:spLocks noGrp="1"/>
          </p:cNvSpPr>
          <p:nvPr>
            <p:ph type="title"/>
          </p:nvPr>
        </p:nvSpPr>
        <p:spPr>
          <a:xfrm>
            <a:off x="452175" y="994787"/>
            <a:ext cx="11073283" cy="695901"/>
          </a:xfrm>
        </p:spPr>
        <p:txBody>
          <a:bodyPr>
            <a:normAutofit/>
          </a:bodyPr>
          <a:lstStyle/>
          <a:p>
            <a:pPr algn="ctr"/>
            <a:r>
              <a:rPr lang="en-IN" sz="3600" i="1" dirty="0"/>
              <a:t>A concise overview of the project’s purpose and findings</a:t>
            </a:r>
            <a:endParaRPr lang="en-IN" sz="3600" dirty="0"/>
          </a:p>
        </p:txBody>
      </p:sp>
      <p:sp>
        <p:nvSpPr>
          <p:cNvPr id="3" name="Content Placeholder 2">
            <a:extLst>
              <a:ext uri="{FF2B5EF4-FFF2-40B4-BE49-F238E27FC236}">
                <a16:creationId xmlns:a16="http://schemas.microsoft.com/office/drawing/2014/main" id="{B75BDA64-06D1-9BB8-E108-7112363CEB4E}"/>
              </a:ext>
            </a:extLst>
          </p:cNvPr>
          <p:cNvSpPr>
            <a:spLocks noGrp="1"/>
          </p:cNvSpPr>
          <p:nvPr>
            <p:ph idx="1"/>
          </p:nvPr>
        </p:nvSpPr>
        <p:spPr>
          <a:xfrm>
            <a:off x="1195754" y="2974312"/>
            <a:ext cx="9626321" cy="3202650"/>
          </a:xfrm>
        </p:spPr>
        <p:txBody>
          <a:bodyPr>
            <a:normAutofit/>
          </a:bodyPr>
          <a:lstStyle/>
          <a:p>
            <a:pPr marL="0" indent="0" algn="just">
              <a:buNone/>
            </a:pPr>
            <a:r>
              <a:rPr lang="en-IN" sz="2000" dirty="0"/>
              <a:t>This analysis examined retail transactional data to identify profit‑draining categories, seasonal sales behaviour, and the impact of returns. Using SQL, Python, and Tableau, I uncovered key drivers of profitability and developed actionable recommendations for inventory and discount strategies.</a:t>
            </a:r>
          </a:p>
        </p:txBody>
      </p:sp>
    </p:spTree>
    <p:extLst>
      <p:ext uri="{BB962C8B-B14F-4D97-AF65-F5344CB8AC3E}">
        <p14:creationId xmlns:p14="http://schemas.microsoft.com/office/powerpoint/2010/main" val="4046806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E13A0-2BF3-6811-5CDB-3020E652CE0C}"/>
              </a:ext>
            </a:extLst>
          </p:cNvPr>
          <p:cNvSpPr>
            <a:spLocks noGrp="1"/>
          </p:cNvSpPr>
          <p:nvPr>
            <p:ph type="title"/>
          </p:nvPr>
        </p:nvSpPr>
        <p:spPr>
          <a:xfrm>
            <a:off x="838200" y="681037"/>
            <a:ext cx="10515600" cy="826215"/>
          </a:xfrm>
        </p:spPr>
        <p:txBody>
          <a:bodyPr>
            <a:normAutofit/>
          </a:bodyPr>
          <a:lstStyle/>
          <a:p>
            <a:pPr algn="ctr"/>
            <a:r>
              <a:rPr lang="en-IN" dirty="0"/>
              <a:t>Methodology</a:t>
            </a:r>
          </a:p>
        </p:txBody>
      </p:sp>
      <p:sp>
        <p:nvSpPr>
          <p:cNvPr id="3" name="Content Placeholder 2">
            <a:extLst>
              <a:ext uri="{FF2B5EF4-FFF2-40B4-BE49-F238E27FC236}">
                <a16:creationId xmlns:a16="http://schemas.microsoft.com/office/drawing/2014/main" id="{7FB592EC-D2CC-8EDA-C05D-01CBC614D2B6}"/>
              </a:ext>
            </a:extLst>
          </p:cNvPr>
          <p:cNvSpPr>
            <a:spLocks noGrp="1"/>
          </p:cNvSpPr>
          <p:nvPr>
            <p:ph idx="1"/>
          </p:nvPr>
        </p:nvSpPr>
        <p:spPr>
          <a:xfrm>
            <a:off x="838200" y="3145135"/>
            <a:ext cx="10515600" cy="1889089"/>
          </a:xfrm>
        </p:spPr>
        <p:txBody>
          <a:bodyPr/>
          <a:lstStyle/>
          <a:p>
            <a:pPr lvl="0"/>
            <a:r>
              <a:rPr lang="en-IN" b="1" dirty="0">
                <a:effectLst/>
              </a:rPr>
              <a:t>SQL</a:t>
            </a:r>
            <a:r>
              <a:rPr lang="en-IN" dirty="0">
                <a:effectLst/>
              </a:rPr>
              <a:t>: Data cleaning, profit margin calculations, return counts.</a:t>
            </a:r>
            <a:endParaRPr lang="en-IN" dirty="0"/>
          </a:p>
          <a:p>
            <a:pPr lvl="0"/>
            <a:r>
              <a:rPr lang="en-IN" b="1" dirty="0">
                <a:effectLst/>
              </a:rPr>
              <a:t>Python</a:t>
            </a:r>
            <a:r>
              <a:rPr lang="en-IN" dirty="0">
                <a:effectLst/>
              </a:rPr>
              <a:t>: Correlation analysis, inventory turnover insights.</a:t>
            </a:r>
            <a:endParaRPr lang="en-IN" dirty="0"/>
          </a:p>
          <a:p>
            <a:pPr lvl="0"/>
            <a:r>
              <a:rPr lang="en-IN" b="1" dirty="0">
                <a:effectLst/>
              </a:rPr>
              <a:t>Tableau</a:t>
            </a:r>
            <a:r>
              <a:rPr lang="en-IN" dirty="0">
                <a:effectLst/>
              </a:rPr>
              <a:t>: Interactive dashboards for profitability, regional sales, and returns.</a:t>
            </a:r>
            <a:endParaRPr lang="en-IN" dirty="0"/>
          </a:p>
        </p:txBody>
      </p:sp>
    </p:spTree>
    <p:extLst>
      <p:ext uri="{BB962C8B-B14F-4D97-AF65-F5344CB8AC3E}">
        <p14:creationId xmlns:p14="http://schemas.microsoft.com/office/powerpoint/2010/main" val="1984109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85253-176D-7784-7DF9-C426DEF73AE9}"/>
              </a:ext>
            </a:extLst>
          </p:cNvPr>
          <p:cNvSpPr>
            <a:spLocks noGrp="1"/>
          </p:cNvSpPr>
          <p:nvPr>
            <p:ph type="title"/>
          </p:nvPr>
        </p:nvSpPr>
        <p:spPr>
          <a:xfrm>
            <a:off x="838200" y="944545"/>
            <a:ext cx="10515600" cy="746143"/>
          </a:xfrm>
        </p:spPr>
        <p:txBody>
          <a:bodyPr/>
          <a:lstStyle/>
          <a:p>
            <a:pPr algn="ctr"/>
            <a:r>
              <a:rPr lang="en-IN" dirty="0"/>
              <a:t>Key Insights</a:t>
            </a:r>
          </a:p>
        </p:txBody>
      </p:sp>
      <p:sp>
        <p:nvSpPr>
          <p:cNvPr id="3" name="Content Placeholder 2">
            <a:extLst>
              <a:ext uri="{FF2B5EF4-FFF2-40B4-BE49-F238E27FC236}">
                <a16:creationId xmlns:a16="http://schemas.microsoft.com/office/drawing/2014/main" id="{EC3B6674-6D3B-5ED6-0176-B5FABFA74311}"/>
              </a:ext>
            </a:extLst>
          </p:cNvPr>
          <p:cNvSpPr>
            <a:spLocks noGrp="1"/>
          </p:cNvSpPr>
          <p:nvPr>
            <p:ph idx="1"/>
          </p:nvPr>
        </p:nvSpPr>
        <p:spPr>
          <a:xfrm>
            <a:off x="241159" y="1825625"/>
            <a:ext cx="11625943" cy="4193338"/>
          </a:xfrm>
        </p:spPr>
        <p:txBody>
          <a:bodyPr>
            <a:normAutofit fontScale="92500"/>
          </a:bodyPr>
          <a:lstStyle/>
          <a:p>
            <a:pPr lvl="0" algn="just"/>
            <a:r>
              <a:rPr lang="en-IN" sz="2400" dirty="0">
                <a:effectLst/>
              </a:rPr>
              <a:t>Profit margins vary widely across sub‑categories; Furniture and Office Supplies show weaker margins compared to Technology.</a:t>
            </a:r>
            <a:endParaRPr lang="en-IN" sz="2400" dirty="0"/>
          </a:p>
          <a:p>
            <a:pPr lvl="0" algn="just"/>
            <a:r>
              <a:rPr lang="en-IN" sz="2400" dirty="0">
                <a:effectLst/>
              </a:rPr>
              <a:t>Returns are concentrated in specific categories, reducing overall profitability.</a:t>
            </a:r>
            <a:endParaRPr lang="en-IN" sz="2400" dirty="0"/>
          </a:p>
          <a:p>
            <a:pPr lvl="0" algn="just"/>
            <a:r>
              <a:rPr lang="en-IN" sz="2400" dirty="0">
                <a:effectLst/>
              </a:rPr>
              <a:t>Discounts negatively correlate with profit, confirming that aggressive discounting erodes margins.</a:t>
            </a:r>
            <a:endParaRPr lang="en-IN" sz="2400" dirty="0"/>
          </a:p>
          <a:p>
            <a:pPr lvl="0" algn="just"/>
            <a:r>
              <a:rPr lang="en-IN" sz="2400" dirty="0">
                <a:effectLst/>
              </a:rPr>
              <a:t>Seasonal peaks in sales (holiday months) highlight opportunities for targeted promotions.</a:t>
            </a:r>
            <a:endParaRPr lang="en-IN" sz="2400" dirty="0"/>
          </a:p>
          <a:p>
            <a:pPr lvl="0" algn="just"/>
            <a:r>
              <a:rPr lang="en-IN" sz="2400" dirty="0">
                <a:effectLst/>
              </a:rPr>
              <a:t>Central region contributes strong sales but moderate profits, suggesting regional efficiency gaps.</a:t>
            </a:r>
            <a:endParaRPr lang="en-IN" sz="2400" dirty="0"/>
          </a:p>
          <a:p>
            <a:pPr lvl="0" algn="just"/>
            <a:r>
              <a:rPr lang="en-IN" sz="2400" dirty="0">
                <a:effectLst/>
              </a:rPr>
              <a:t>Refunds are heavily concentrated in a few categories, pointing to product quality or customer satisfaction issues.</a:t>
            </a:r>
            <a:endParaRPr lang="en-IN" sz="2400" dirty="0"/>
          </a:p>
          <a:p>
            <a:pPr lvl="0" algn="just"/>
            <a:r>
              <a:rPr lang="en-IN" sz="2400" dirty="0">
                <a:effectLst/>
              </a:rPr>
              <a:t>Inventory turnover is slower in Furniture and Office Supplies, indicating overstock risks.</a:t>
            </a:r>
            <a:endParaRPr lang="en-IN" sz="2400" dirty="0"/>
          </a:p>
          <a:p>
            <a:endParaRPr lang="en-IN" dirty="0"/>
          </a:p>
        </p:txBody>
      </p:sp>
    </p:spTree>
    <p:extLst>
      <p:ext uri="{BB962C8B-B14F-4D97-AF65-F5344CB8AC3E}">
        <p14:creationId xmlns:p14="http://schemas.microsoft.com/office/powerpoint/2010/main" val="4081645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719A9-77E3-6535-F4FE-DA3AE50E1CE9}"/>
              </a:ext>
            </a:extLst>
          </p:cNvPr>
          <p:cNvSpPr>
            <a:spLocks noGrp="1"/>
          </p:cNvSpPr>
          <p:nvPr>
            <p:ph type="title"/>
          </p:nvPr>
        </p:nvSpPr>
        <p:spPr>
          <a:xfrm>
            <a:off x="838200" y="365126"/>
            <a:ext cx="10515600" cy="428694"/>
          </a:xfrm>
        </p:spPr>
        <p:txBody>
          <a:bodyPr>
            <a:noAutofit/>
          </a:bodyPr>
          <a:lstStyle/>
          <a:p>
            <a:pPr algn="ctr"/>
            <a:r>
              <a:rPr lang="en-IN" sz="2400" b="1" dirty="0"/>
              <a:t>Dashboard Screenshot</a:t>
            </a:r>
            <a:r>
              <a:rPr lang="en-IN" sz="2400" dirty="0"/>
              <a:t>: Overall KPIs (Sales, Profit, Margin, Returns %).</a:t>
            </a:r>
          </a:p>
        </p:txBody>
      </p:sp>
      <p:pic>
        <p:nvPicPr>
          <p:cNvPr id="5" name="Content Placeholder 4">
            <a:extLst>
              <a:ext uri="{FF2B5EF4-FFF2-40B4-BE49-F238E27FC236}">
                <a16:creationId xmlns:a16="http://schemas.microsoft.com/office/drawing/2014/main" id="{8B1D7B08-A601-71F0-5D2E-3B81A21C3A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5694" y="863600"/>
            <a:ext cx="10007600" cy="5629275"/>
          </a:xfrm>
          <a:prstGeom prst="rect">
            <a:avLst/>
          </a:prstGeom>
        </p:spPr>
      </p:pic>
    </p:spTree>
    <p:extLst>
      <p:ext uri="{BB962C8B-B14F-4D97-AF65-F5344CB8AC3E}">
        <p14:creationId xmlns:p14="http://schemas.microsoft.com/office/powerpoint/2010/main" val="1206498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1F4A9-489E-F4FF-BE4C-B9896CD97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87E9D-F322-31FD-D13F-489908167532}"/>
              </a:ext>
            </a:extLst>
          </p:cNvPr>
          <p:cNvSpPr>
            <a:spLocks noGrp="1"/>
          </p:cNvSpPr>
          <p:nvPr>
            <p:ph type="title"/>
          </p:nvPr>
        </p:nvSpPr>
        <p:spPr>
          <a:xfrm>
            <a:off x="838200" y="365126"/>
            <a:ext cx="10515600" cy="428694"/>
          </a:xfrm>
        </p:spPr>
        <p:txBody>
          <a:bodyPr>
            <a:noAutofit/>
          </a:bodyPr>
          <a:lstStyle/>
          <a:p>
            <a:pPr algn="ctr"/>
            <a:r>
              <a:rPr lang="en-IN" sz="2400" b="1" dirty="0"/>
              <a:t>SQL Result Table</a:t>
            </a:r>
            <a:r>
              <a:rPr lang="en-IN" sz="2400" dirty="0"/>
              <a:t>: Returns by category / sub‑category.</a:t>
            </a:r>
          </a:p>
        </p:txBody>
      </p:sp>
      <p:sp>
        <p:nvSpPr>
          <p:cNvPr id="9" name="Content Placeholder 8">
            <a:extLst>
              <a:ext uri="{FF2B5EF4-FFF2-40B4-BE49-F238E27FC236}">
                <a16:creationId xmlns:a16="http://schemas.microsoft.com/office/drawing/2014/main" id="{FE503DE7-9C45-6D15-4A97-B83579267868}"/>
              </a:ext>
            </a:extLst>
          </p:cNvPr>
          <p:cNvSpPr>
            <a:spLocks noGrp="1"/>
          </p:cNvSpPr>
          <p:nvPr>
            <p:ph idx="1"/>
          </p:nvPr>
        </p:nvSpPr>
        <p:spPr/>
        <p:txBody>
          <a:bodyPr/>
          <a:lstStyle/>
          <a:p>
            <a:endParaRPr lang="en-IN" dirty="0"/>
          </a:p>
        </p:txBody>
      </p:sp>
      <p:pic>
        <p:nvPicPr>
          <p:cNvPr id="11" name="Picture 10">
            <a:extLst>
              <a:ext uri="{FF2B5EF4-FFF2-40B4-BE49-F238E27FC236}">
                <a16:creationId xmlns:a16="http://schemas.microsoft.com/office/drawing/2014/main" id="{A6D98A7A-4AEA-361E-E0FC-0D0D2C117C43}"/>
              </a:ext>
            </a:extLst>
          </p:cNvPr>
          <p:cNvPicPr>
            <a:picLocks noChangeAspect="1"/>
          </p:cNvPicPr>
          <p:nvPr/>
        </p:nvPicPr>
        <p:blipFill>
          <a:blip r:embed="rId2"/>
          <a:stretch>
            <a:fillRect/>
          </a:stretch>
        </p:blipFill>
        <p:spPr>
          <a:xfrm>
            <a:off x="7010449" y="4077390"/>
            <a:ext cx="4447876" cy="2099573"/>
          </a:xfrm>
          <a:prstGeom prst="rect">
            <a:avLst/>
          </a:prstGeom>
        </p:spPr>
      </p:pic>
      <p:pic>
        <p:nvPicPr>
          <p:cNvPr id="13" name="Picture 12">
            <a:extLst>
              <a:ext uri="{FF2B5EF4-FFF2-40B4-BE49-F238E27FC236}">
                <a16:creationId xmlns:a16="http://schemas.microsoft.com/office/drawing/2014/main" id="{F4CCCF76-996E-358F-0DF6-AC56DC31189C}"/>
              </a:ext>
            </a:extLst>
          </p:cNvPr>
          <p:cNvPicPr>
            <a:picLocks noChangeAspect="1"/>
          </p:cNvPicPr>
          <p:nvPr/>
        </p:nvPicPr>
        <p:blipFill>
          <a:blip r:embed="rId3"/>
          <a:stretch>
            <a:fillRect/>
          </a:stretch>
        </p:blipFill>
        <p:spPr>
          <a:xfrm>
            <a:off x="838200" y="1825625"/>
            <a:ext cx="6276773" cy="2251765"/>
          </a:xfrm>
          <a:prstGeom prst="rect">
            <a:avLst/>
          </a:prstGeom>
        </p:spPr>
      </p:pic>
    </p:spTree>
    <p:extLst>
      <p:ext uri="{BB962C8B-B14F-4D97-AF65-F5344CB8AC3E}">
        <p14:creationId xmlns:p14="http://schemas.microsoft.com/office/powerpoint/2010/main" val="120490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B5C3A-A1B2-A37B-B5EC-1FEBE6430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EE214-C9A7-E7F8-7B53-D122802885C5}"/>
              </a:ext>
            </a:extLst>
          </p:cNvPr>
          <p:cNvSpPr>
            <a:spLocks noGrp="1"/>
          </p:cNvSpPr>
          <p:nvPr>
            <p:ph type="title"/>
          </p:nvPr>
        </p:nvSpPr>
        <p:spPr>
          <a:xfrm>
            <a:off x="838200" y="365126"/>
            <a:ext cx="10515600" cy="428694"/>
          </a:xfrm>
        </p:spPr>
        <p:txBody>
          <a:bodyPr>
            <a:noAutofit/>
          </a:bodyPr>
          <a:lstStyle/>
          <a:p>
            <a:pPr algn="ctr"/>
            <a:r>
              <a:rPr lang="en-IN" sz="2400" b="1" dirty="0"/>
              <a:t>Python Output</a:t>
            </a:r>
            <a:r>
              <a:rPr lang="en-IN" sz="2400" dirty="0"/>
              <a:t>: Correlation heatmap showing discount vs profit relationship.</a:t>
            </a:r>
          </a:p>
        </p:txBody>
      </p:sp>
      <p:pic>
        <p:nvPicPr>
          <p:cNvPr id="4" name="Content Placeholder 3">
            <a:extLst>
              <a:ext uri="{FF2B5EF4-FFF2-40B4-BE49-F238E27FC236}">
                <a16:creationId xmlns:a16="http://schemas.microsoft.com/office/drawing/2014/main" id="{CB8AB682-A142-DAB4-EB87-F489AEEEE4DC}"/>
              </a:ext>
            </a:extLst>
          </p:cNvPr>
          <p:cNvPicPr>
            <a:picLocks noGrp="1" noChangeAspect="1"/>
          </p:cNvPicPr>
          <p:nvPr>
            <p:ph idx="1"/>
          </p:nvPr>
        </p:nvPicPr>
        <p:blipFill>
          <a:blip r:embed="rId2"/>
          <a:stretch>
            <a:fillRect/>
          </a:stretch>
        </p:blipFill>
        <p:spPr>
          <a:xfrm>
            <a:off x="1636207" y="965200"/>
            <a:ext cx="8956099" cy="5435600"/>
          </a:xfrm>
          <a:prstGeom prst="rect">
            <a:avLst/>
          </a:prstGeom>
        </p:spPr>
      </p:pic>
    </p:spTree>
    <p:extLst>
      <p:ext uri="{BB962C8B-B14F-4D97-AF65-F5344CB8AC3E}">
        <p14:creationId xmlns:p14="http://schemas.microsoft.com/office/powerpoint/2010/main" val="3755672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2A776-96D7-2E16-64F1-9E93A01E2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A4506-F069-FDFA-C621-AB71CF54682F}"/>
              </a:ext>
            </a:extLst>
          </p:cNvPr>
          <p:cNvSpPr>
            <a:spLocks noGrp="1"/>
          </p:cNvSpPr>
          <p:nvPr>
            <p:ph type="title"/>
          </p:nvPr>
        </p:nvSpPr>
        <p:spPr>
          <a:xfrm>
            <a:off x="838200" y="365126"/>
            <a:ext cx="10515600" cy="428694"/>
          </a:xfrm>
        </p:spPr>
        <p:txBody>
          <a:bodyPr>
            <a:noAutofit/>
          </a:bodyPr>
          <a:lstStyle/>
          <a:p>
            <a:pPr algn="ctr"/>
            <a:r>
              <a:rPr lang="en-IN" sz="2400" b="1" dirty="0"/>
              <a:t>Tableau Chart</a:t>
            </a:r>
            <a:r>
              <a:rPr lang="en-IN" sz="2400" dirty="0"/>
              <a:t>: Monthly sales and profit trends.</a:t>
            </a:r>
          </a:p>
        </p:txBody>
      </p:sp>
      <p:pic>
        <p:nvPicPr>
          <p:cNvPr id="9" name="Content Placeholder 8">
            <a:extLst>
              <a:ext uri="{FF2B5EF4-FFF2-40B4-BE49-F238E27FC236}">
                <a16:creationId xmlns:a16="http://schemas.microsoft.com/office/drawing/2014/main" id="{E8542E74-B344-1BF4-E05E-2A534128E743}"/>
              </a:ext>
            </a:extLst>
          </p:cNvPr>
          <p:cNvPicPr>
            <a:picLocks noGrp="1" noChangeAspect="1"/>
          </p:cNvPicPr>
          <p:nvPr>
            <p:ph idx="1"/>
          </p:nvPr>
        </p:nvPicPr>
        <p:blipFill>
          <a:blip r:embed="rId2"/>
          <a:stretch>
            <a:fillRect/>
          </a:stretch>
        </p:blipFill>
        <p:spPr>
          <a:xfrm>
            <a:off x="838200" y="924048"/>
            <a:ext cx="10515600" cy="5568826"/>
          </a:xfrm>
          <a:prstGeom prst="rect">
            <a:avLst/>
          </a:prstGeom>
        </p:spPr>
      </p:pic>
    </p:spTree>
    <p:extLst>
      <p:ext uri="{BB962C8B-B14F-4D97-AF65-F5344CB8AC3E}">
        <p14:creationId xmlns:p14="http://schemas.microsoft.com/office/powerpoint/2010/main" val="1646974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92A5F-CDC0-9AD4-1515-57D7DFFA45EF}"/>
              </a:ext>
            </a:extLst>
          </p:cNvPr>
          <p:cNvSpPr>
            <a:spLocks noGrp="1"/>
          </p:cNvSpPr>
          <p:nvPr>
            <p:ph type="title"/>
          </p:nvPr>
        </p:nvSpPr>
        <p:spPr/>
        <p:txBody>
          <a:bodyPr/>
          <a:lstStyle/>
          <a:p>
            <a:r>
              <a:rPr lang="en-IN" dirty="0"/>
              <a:t>Recommendations:</a:t>
            </a:r>
          </a:p>
        </p:txBody>
      </p:sp>
      <p:sp>
        <p:nvSpPr>
          <p:cNvPr id="3" name="Content Placeholder 2">
            <a:extLst>
              <a:ext uri="{FF2B5EF4-FFF2-40B4-BE49-F238E27FC236}">
                <a16:creationId xmlns:a16="http://schemas.microsoft.com/office/drawing/2014/main" id="{8378FF2C-7952-1785-FA2C-72B0A7BF6396}"/>
              </a:ext>
            </a:extLst>
          </p:cNvPr>
          <p:cNvSpPr>
            <a:spLocks noGrp="1"/>
          </p:cNvSpPr>
          <p:nvPr>
            <p:ph idx="1"/>
          </p:nvPr>
        </p:nvSpPr>
        <p:spPr>
          <a:xfrm>
            <a:off x="838200" y="1825625"/>
            <a:ext cx="10515600" cy="1882217"/>
          </a:xfrm>
        </p:spPr>
        <p:txBody>
          <a:bodyPr/>
          <a:lstStyle/>
          <a:p>
            <a:pPr lvl="0" algn="just"/>
            <a:r>
              <a:rPr lang="en-IN" sz="2400" dirty="0">
                <a:effectLst/>
              </a:rPr>
              <a:t>Reduce discounting in low‑margin categories.</a:t>
            </a:r>
            <a:endParaRPr lang="en-IN" sz="2400" dirty="0"/>
          </a:p>
          <a:p>
            <a:pPr lvl="0" algn="just"/>
            <a:r>
              <a:rPr lang="en-IN" sz="2400" dirty="0">
                <a:effectLst/>
              </a:rPr>
              <a:t>Improve return policies and product quality checks in Furniture.</a:t>
            </a:r>
            <a:endParaRPr lang="en-IN" sz="2400" dirty="0"/>
          </a:p>
          <a:p>
            <a:pPr lvl="0" algn="just"/>
            <a:r>
              <a:rPr lang="en-IN" sz="2400" dirty="0">
                <a:effectLst/>
              </a:rPr>
              <a:t>Optimize inventory turnover for slow‑moving categories.</a:t>
            </a:r>
            <a:endParaRPr lang="en-IN" sz="2400" dirty="0"/>
          </a:p>
          <a:p>
            <a:pPr lvl="0" algn="just"/>
            <a:r>
              <a:rPr lang="en-IN" sz="2400" dirty="0">
                <a:effectLst/>
              </a:rPr>
              <a:t>Focus marketing efforts on seasonal peaks to maximize profitability.</a:t>
            </a:r>
            <a:endParaRPr lang="en-IN" sz="2400" dirty="0"/>
          </a:p>
          <a:p>
            <a:pPr algn="just"/>
            <a:endParaRPr lang="en-IN" dirty="0"/>
          </a:p>
        </p:txBody>
      </p:sp>
    </p:spTree>
    <p:extLst>
      <p:ext uri="{BB962C8B-B14F-4D97-AF65-F5344CB8AC3E}">
        <p14:creationId xmlns:p14="http://schemas.microsoft.com/office/powerpoint/2010/main" val="2875137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EB22D-C9C2-EB81-2964-2DF12DC8AFD5}"/>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51A3F23D-B76C-1E27-C5E3-CF9F660ED622}"/>
              </a:ext>
            </a:extLst>
          </p:cNvPr>
          <p:cNvSpPr>
            <a:spLocks noGrp="1"/>
          </p:cNvSpPr>
          <p:nvPr>
            <p:ph idx="1"/>
          </p:nvPr>
        </p:nvSpPr>
        <p:spPr>
          <a:xfrm>
            <a:off x="838200" y="2820412"/>
            <a:ext cx="10515600" cy="1603375"/>
          </a:xfrm>
        </p:spPr>
        <p:txBody>
          <a:bodyPr>
            <a:normAutofit/>
          </a:bodyPr>
          <a:lstStyle/>
          <a:p>
            <a:pPr marL="0" indent="0" algn="just">
              <a:buNone/>
            </a:pPr>
            <a:r>
              <a:rPr lang="en-IN" sz="2400" dirty="0"/>
              <a:t>This project demonstrates how combining SQL, Python, and Tableau can uncover actionable insights in retail data. By addressing return rates, discount strategies, and inventory turnover, businesses can significantly improve profitability and operational efficiency.</a:t>
            </a:r>
          </a:p>
        </p:txBody>
      </p:sp>
    </p:spTree>
    <p:extLst>
      <p:ext uri="{BB962C8B-B14F-4D97-AF65-F5344CB8AC3E}">
        <p14:creationId xmlns:p14="http://schemas.microsoft.com/office/powerpoint/2010/main" val="753797711"/>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349</Words>
  <Application>Microsoft Office PowerPoint</Application>
  <PresentationFormat>Widescreen</PresentationFormat>
  <Paragraphs>29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Retail Business Performance &amp; Profitability Analysis</vt:lpstr>
      <vt:lpstr>A concise overview of the project’s purpose and findings</vt:lpstr>
      <vt:lpstr>Methodology</vt:lpstr>
      <vt:lpstr>Key Insights</vt:lpstr>
      <vt:lpstr>Dashboard Screenshot: Overall KPIs (Sales, Profit, Margin, Returns %).</vt:lpstr>
      <vt:lpstr>SQL Result Table: Returns by category / sub‑category.</vt:lpstr>
      <vt:lpstr>Python Output: Correlation heatmap showing discount vs profit relationship.</vt:lpstr>
      <vt:lpstr>Tableau Chart: Monthly sales and profit trends.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 Dikshit</dc:creator>
  <cp:lastModifiedBy>Aman Dikshit</cp:lastModifiedBy>
  <cp:revision>1</cp:revision>
  <dcterms:created xsi:type="dcterms:W3CDTF">2026-09-04T13:27:51Z</dcterms:created>
  <dcterms:modified xsi:type="dcterms:W3CDTF">2026-09-04T13:40:59Z</dcterms:modified>
</cp:coreProperties>
</file>